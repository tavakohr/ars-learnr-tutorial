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how CDISC Analysis Results Standards (ARS) and Analysis Results Data (ARD) let us automate TLF production. Key framing: we start from something every team already has - the annotated shell - and end with automated, traceable outputs. The four pills are the story arc: shell (human intent), ARS JSON (machine-readable spec), ARD (structured results), automated TLFs.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the problem: hundreds of TLFs per submission, each touched multiple times by programmers, validators, statisticians. The workflow is document-based: shells in Word/Excel, output-specific code, manual QC. Any SAP or data change restarts the cycle. Point to make: this is not a talent problem, it is a metadata problem - reporting intent is locked in documents machines cannot read.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history: ARM v1.0 described displays but had no results model. Define-XML documents input data, not results. The gap persisted until CDISC released ARS v1.0 in April 2024 - the first machine-readable model for both the analysis plan layer and the results layer. CDISC 360i (launched Feb 2025) makes ARS central to its end-to-end automation vision. Define the two terms clearly here: ARS = the standard (specification + metadata model); ARD = the standardized results data.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between clean ADaM data and final outputs sits a wall of documents - shells, specs, output-specific code. Each dashed arrow is a human re-interpreting intent. With ARS, the same chain is connected by data: ARS metadata captures reporting intent, execution produces ARD, and displays render from ARD. Closing line on the slide is the core message. ~50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practical benefits - keep it quick, one line each. Emphasize traceability (regulators can follow any number back to spec) and reuse (define a population once, reference everywhere). Closing point: this is an ecosystem play, not just a file format.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audience in the familiar. Walk the shell: red annotations carry population (SAFFL='Y'), variable (ADSL.AGE), grouping (TRT01A), format, SAP reference. Point: nearly everything ARS needs is already written down here - just not in a structured form. This is why shells are the right on-ramp to ARS.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bridge slide. Read two or three rows aloud, not all eight: population annotation becomes an AnalysisSet with a WhereClause; the grouping annotation becomes a GroupingFactor; the row statistics become an AnalysisMethod's ordered operations; and once results exist they are OperationResults - the ARD. Message: nothing exotic is being invented; ARS names and structures what shells already say.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ARS adoption is not free. Authoring detailed metadata up front is slower than sketching a shell. But the comparison isn't one shell vs one JSON file - it's one reusable specification vs re-programming the same intent for every output of every study. Acknowledging the cost honestly builds credibility for the payoff argument.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state: ARS v1.0 ships as a LinkML model, and in practice a reporting event is one JSON document with six main branches. Left: the mental model. Right: a real (simplified) excerpt - an AnalysisSet with its WhereClause condition, and a method's operations with result patterns. Advice to the audience: always teach the structure visually before showing raw JSON. That's exactly what the two demos next do. ~55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demo before switching to the browser. Two HTML animations, both step-through with Play/Step controls. Demo 1 decomposes an annotated shell into the six ReportingEvent branches. Demo 2 melts a demographic table into ARD rows. Give the audience the checklist so they watch actively: metadata, specifications, results, relationships, and above all the traceability chain. ~40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if bandwidth allows; otherwise walk this final frame. Left: the annotated shell for Table 14.1.1 with its red annotations. Right: the six branches filling in - the Safety Population becomes analysisSets[AS002], the randomized-subjects filter becomes a DataSubset, TRT01A becomes a GroupingFactor with three groups, the row statistics become method M001's operations, the analysis run lands in analyses (where ARD results nest), and Table 14.1.1 itself is outputs[OUT001]. Emphasize each JSON entry is traceable to a phrase on the shell. ~75 seconds including click-through.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demo: the ARD side. Each animation step picks one cell of the demographic table and appends structured ARD rows: treatment column → group1/group1_level, row label → variable, statistic → stat_name/stat_label, the number → stat. Highlight the 'Mean (SD)' cell: one display cell = two ARD records - one record per computed value is the core ARD principle, and it is exactly the shape the {cards} package produces.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in four layers: the ReportingEvent root; reusable building blocks (populations, subsets, groupings, methods) that are defined once and referenced by ID; the Analysis object that binds them to a dataset and variable and holds parameters, purpose, and - once executed - the ARD results; and the Output that defines the rendered display. Right rail: the traceability machinery - document references to the SAP, explicit WhereClauses, result patterns.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 is the results layer: long-format, one record per computed value, with standard columns for group, variable, statistic name and value. In ARS v1.0 these results nest inside each Analysis as OperationResults; as a working dataset, the {cards} ARD data frame is the same idea. Walk the flow at top: shell to ARS metadata to execution to ARD to any downstream output. The one-liner at the bottom is the cleanest ARS-vs-ARD definition to leave them with. ~55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adoption honestly. Six barriers, and most teams hit all of them: raw JSON is hard to author; the standard is young; nobody's SAP converts itself; the first study is the expensive one; authoring tools are immature; and it takes statisticians, programmers, and standards teams moving together. Pivot line at the bottom: treat the barriers as a tooling requirements list. That sets up the rest of the talk.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crux slide of the talk. Programmers are fluent in shells; automation needs ARS JSON; and today the path between them is manual. Hand-authoring nested, ID-referenced JSON for 500 outputs is not a job anyone wants, and it is where errors creep in. Frame the conclusion explicitly: the bottleneck is not the standard, it is the missing translation tooling. ~50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beats. First: the requirements list for any serious translation tool - validation, templates, reuse, visual authoring, generated JSON, review workflows. Second: arsbridge, an R package concept designed against exactly that list: parse and summarize ARS files, convert shells to ARS JSON and back, and validate ARD against the spec. Set expectations carefully: this is an enabling approach under active development, not a finished product - humans still review the generated metadata. ~55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workflow. Once a comprehensive ARS JSON exists, it becomes a reusable specification layer: siera reads the metadata and generates one R program per output; those programs call cards to compute the ARD; formatting engines render the displays. Keep expectations balanced: 'a substantial share' of TLF programming - the standard bread-and-butter outputs - not 100% of every bespoke analysis. Strategic framing: the spec is the standard; execution tools are swappable.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architecture on one slide, snaking left to right then back. Requirements feed shells; arsbridge turns shells into validated ARS JSON; siera and cards execute the metadata into ARD; rendering produces reviewable, reproducible outputs. Point at the amber badges: human review is designed in - at intent, at specification, at statistical review, at final QC. Automation removes retyping, not judgment. ~55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five messages, slowly. One: ARS/ARD are the standardized foundation. Two: shells stay - they are the on-ramp, not the enemy. Three: the real gap is shell-to-JSON translation. Four: arsbridge bridges it, siera and cards execute it. Five - land this one: this is about removing repetitive effort, not people. Invite questions. ~45 seconds, finishing at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ars_reportingevent_structure_animation.html" TargetMode="External"/><Relationship Id="rId2" Type="http://schemas.openxmlformats.org/officeDocument/2006/relationships/hyperlink" Target="demog_to_ard_animation.html" TargetMode="External"/><Relationship Id="rId3" Type="http://schemas.openxmlformats.org/officeDocument/2006/relationships/image" Target="../media/image-10-1.png"/><Relationship Id="rId4" Type="http://schemas.openxmlformats.org/officeDocument/2006/relationships/image" Target="../media/image-10-2.png"/><Relationship Id="rId5" Type="http://schemas.openxmlformats.org/officeDocument/2006/relationships/image" Target="../media/image-10-3.png"/><Relationship Id="rId6" Type="http://schemas.openxmlformats.org/officeDocument/2006/relationships/image" Target="../media/image-10-4.png"/><Relationship Id="rId7" Type="http://schemas.openxmlformats.org/officeDocument/2006/relationships/image" Target="../media/image-10-5.png"/><Relationship Id="rId8" Type="http://schemas.openxmlformats.org/officeDocument/2006/relationships/image" Target="../media/image-10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ars_reportingevent_structure_animation.html" TargetMode="External"/><Relationship Id="rId3" Type="http://schemas.openxmlformats.org/officeDocument/2006/relationships/hyperlink" Target="ars_reportingevent_structure_animation.html" TargetMode="Externa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demog_to_ard_animation.html" TargetMode="External"/><Relationship Id="rId3" Type="http://schemas.openxmlformats.org/officeDocument/2006/relationships/hyperlink" Target="demog_to_ard_animation.html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 ANALYSIS RESULTS STANDARDS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Annotated Shells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Automated TLFs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ARS and ARD turn familiar reporting artifacts into a machine-readable,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specification layer for clinical reporting automation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1691640" cy="457200"/>
          </a:xfrm>
          <a:prstGeom prst="roundRect">
            <a:avLst>
              <a:gd name="adj" fmla="val 480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Shell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50008" y="3886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97480" y="3886200"/>
            <a:ext cx="1691640" cy="457200"/>
          </a:xfrm>
          <a:prstGeom prst="roundRect">
            <a:avLst>
              <a:gd name="adj" fmla="val 48000"/>
            </a:avLst>
          </a:prstGeom>
          <a:solidFill>
            <a:srgbClr val="2563A8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JSON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07408" y="3886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3886200"/>
            <a:ext cx="1691640" cy="457200"/>
          </a:xfrm>
          <a:prstGeom prst="roundRect">
            <a:avLst>
              <a:gd name="adj" fmla="val 48000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4808" y="3886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2280" y="3886200"/>
            <a:ext cx="1691640" cy="457200"/>
          </a:xfrm>
          <a:prstGeom prst="roundRect">
            <a:avLst>
              <a:gd name="adj" fmla="val 48000"/>
            </a:avLst>
          </a:prstGeom>
          <a:solidFill>
            <a:srgbClr val="0E5A6D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TLFs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Hamid Tavakoli   ·   Clinical Reporting &amp; Data Standards   ·   15-minute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Clinical Reporting Automation Matters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383280" cy="1042416"/>
          </a:xfrm>
          <a:prstGeom prst="roundRect">
            <a:avLst>
              <a:gd name="adj" fmla="val 7018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300–800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TLFs in a single submission, delivered as static RTF / PDF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383280" cy="1042416"/>
          </a:xfrm>
          <a:prstGeom prst="roundRect">
            <a:avLst>
              <a:gd name="adj" fmla="val 7018"/>
            </a:avLst>
          </a:prstGeom>
          <a:solidFill>
            <a:srgbClr val="EAF3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touchpoints per output: program, validate, review, update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383280" cy="1042416"/>
          </a:xfrm>
          <a:prstGeom prst="roundRect">
            <a:avLst>
              <a:gd name="adj" fmla="val 7018"/>
            </a:avLst>
          </a:prstGeom>
          <a:solidFill>
            <a:srgbClr val="EAF3F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change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" y="4251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SAP or data restarts the program–QC–review cycle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6240" y="1298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document-based workflow today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162763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79392" y="162763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+ Word/Excel shells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162763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DBEA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48272" y="162763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Output-specific SAS / R code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2432304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48272" y="2432304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 / PDF drafts + manual QC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2432304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79392" y="2432304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after every SAP / data change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91072" y="1929384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2276856"/>
            <a:ext cx="0" cy="1097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91072" y="2734056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5212080" y="2276856"/>
            <a:ext cx="0" cy="109728"/>
          </a:xfrm>
          <a:prstGeom prst="line">
            <a:avLst/>
          </a:prstGeom>
          <a:noFill/>
          <a:ln w="22225">
            <a:solidFill>
              <a:srgbClr val="B3400E"/>
            </a:solidFill>
            <a:prstDash val="dash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4206240" y="31089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3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loops back — rework, re-QC, re-review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06240" y="333756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3456432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live in documents, disconnected from executable code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logic is rewritten study after study — little structured reuse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trace numbers back to code and SAP text by hand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and Purpose of CDISC ARS and 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1792224"/>
            <a:ext cx="164592" cy="164592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0391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v1.0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313432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about displays; no results model, uneven adoption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16936" y="1792224"/>
            <a:ext cx="164592" cy="164592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1371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58568" y="20391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Define-XML 2.x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2313432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input datasets and variables — not analysis results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9704" y="1792224"/>
            <a:ext cx="164592" cy="164592"/>
          </a:xfrm>
          <a:prstGeom prst="ellipse">
            <a:avLst/>
          </a:prstGeom>
          <a:solidFill>
            <a:srgbClr val="0E5A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1371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31336" y="20391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v1.0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58768" y="2313432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model for analysis specs and results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62472" y="1792224"/>
            <a:ext cx="164592" cy="164592"/>
          </a:xfrm>
          <a:prstGeom prst="ellipse">
            <a:avLst/>
          </a:prstGeom>
          <a:solidFill>
            <a:srgbClr val="2563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371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04104" y="20391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 360i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31536" y="2313432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“i” = implementation: standards-driven, end-to-end automation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1792224"/>
            <a:ext cx="164592" cy="164592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1371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76872" y="20391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&amp; tooling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04304" y="2313432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Consortium pilots, pharmaverse packages, FDA interest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463040"/>
          </a:xfrm>
          <a:prstGeom prst="roundRect">
            <a:avLst>
              <a:gd name="adj" fmla="val 5625"/>
            </a:avLst>
          </a:prstGeom>
          <a:solidFill>
            <a:srgbClr val="EAF3F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67588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standardizes how reporting specifications and analysis intent are represented — populations, methods, groupings, displays — as structured metadata.  </a:t>
            </a:r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standardizes the analysis results themselves: one structured record per computed value, traceable to its specification.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Analysis Datasets and Final Outputs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disconnected artifacts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1554480"/>
            <a:ext cx="1325880" cy="731520"/>
          </a:xfrm>
          <a:prstGeom prst="roundRect">
            <a:avLst>
              <a:gd name="adj" fmla="val 875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5544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Excel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554480"/>
            <a:ext cx="1325880" cy="73152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5544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23560" y="1554480"/>
            <a:ext cx="1371600" cy="73152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Output-specific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19202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155448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5544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 / PDF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human interpretation at every hand-off — intent is re-read, re-typed, re-coded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ARS / ARD — one structured, machine-readable chain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2004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55064" y="3566160"/>
            <a:ext cx="23317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43100" y="320040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4310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metadata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(reporting intent)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52444" y="3566160"/>
            <a:ext cx="23317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40480" y="3200400"/>
            <a:ext cx="1325880" cy="731520"/>
          </a:xfrm>
          <a:prstGeom prst="roundRect">
            <a:avLst>
              <a:gd name="adj" fmla="val 8750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0" y="32004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21224" y="3566160"/>
            <a:ext cx="23317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09260" y="320040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092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(structured results)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18604" y="3566160"/>
            <a:ext cx="23317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06640" y="320040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06640" y="3200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results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005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every hand-off is data — reporting intent and results are machine-readable end to end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348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/ ARD close the gap by making reporting intent itself a data artifact — not a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ARS and ARD Are Worth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636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1947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links back to its dataset, method, population, and SAP reference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3410712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636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29000" y="1947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across studies, sponsors, and tools — less bespoke variation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199632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5636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17920" y="1947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+ data + method are explicit, so results can be re-derived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16936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" y="30723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1546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099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" y="35387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Populations, methods, and display patterns are defined once, referenced by ID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16936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410712" y="30723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1546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3099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429000" y="35387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specs can drive code generation and rendering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916936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199632" y="30723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546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3099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Reviewability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217920" y="35387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query structured results instead of paging through PDFs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technical standard: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is the foundation for a scalable reporting ecosystem — and a measurable reduction in repetitive programming effort.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Annotated Shells: Familiar, and Already Rich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4805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35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14.1.1: Demographic Characteristics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709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Population  </a:t>
            </a:r>
            <a:pPr algn="ctr" indent="0" marL="0">
              <a:buNone/>
            </a:pPr>
            <a:r>
              <a:rPr lang="en-US" sz="950" b="1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ADSL.SAFFL='Y'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39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20391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N=XXX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20391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N=XXX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429768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(years)  </a:t>
            </a:r>
            <a:pPr indent="0" marL="0">
              <a:buNone/>
            </a:pPr>
            <a:r>
              <a:rPr lang="en-US" sz="950" b="1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ADSL.AGE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 (SD)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68880" y="3172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xx.x (xx.xx)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3172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xx.x (xx.xx)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465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3465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xx.x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0" y="3465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xx.x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776472"/>
            <a:ext cx="4297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96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Grouping: </a:t>
            </a:r>
            <a:pPr indent="0" marL="0">
              <a:buNone/>
            </a:pPr>
            <a:r>
              <a:rPr lang="en-US" sz="900" b="1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TRT01A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Format: </a:t>
            </a:r>
            <a:pPr indent="0" marL="0">
              <a:buNone/>
            </a:pPr>
            <a:r>
              <a:rPr lang="en-US" sz="900" b="1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XX.X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Per SAP §8.1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1056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footnote: analysis population per protocol section 3.2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shell already specifies: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17373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identifier, title, and subtitle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and analysis set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 and variables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and analysis method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and display structure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Formats, footnotes, SAP references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in short: the analysis intent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03520" y="4114800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5468112" y="416966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capture business and reporting intent in a form clinical teams already trust.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Shell Concept Has an ARS Home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SHELL SAYS …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120640" y="1024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ARS / ARD REPRESENTS IT 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listing / figure ID  ·  title &amp; subtitle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99616"/>
            <a:ext cx="548640" cy="0"/>
          </a:xfrm>
          <a:prstGeom prst="line">
            <a:avLst/>
          </a:prstGeom>
          <a:noFill/>
          <a:ln w="25400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29844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2984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· display sections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41932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419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“Safety Population (SAFFL='Y')”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943100"/>
            <a:ext cx="548640" cy="0"/>
          </a:xfrm>
          <a:prstGeom prst="line">
            <a:avLst/>
          </a:prstGeom>
          <a:noFill/>
          <a:ln w="2540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741932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174193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AnalysisSet + WhereClause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854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Record-level filters (e.g. RANDFL='Y')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386584"/>
            <a:ext cx="548640" cy="0"/>
          </a:xfrm>
          <a:prstGeom prst="line">
            <a:avLst/>
          </a:prstGeom>
          <a:noFill/>
          <a:ln w="2540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2185416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185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DataSubset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28900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2890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annotation “Grouping: TRT01A”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2830068"/>
            <a:ext cx="5486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0" y="2628900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6289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GroupingFactor · groups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072384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0723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stats “n, Mean (SD), Median”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273552"/>
            <a:ext cx="5486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20640" y="3072384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30723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AnalysisMethod · operations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515868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51586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Dataset.variable notes “ADSL.AGE”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717036"/>
            <a:ext cx="548640" cy="0"/>
          </a:xfrm>
          <a:prstGeom prst="line">
            <a:avLst/>
          </a:prstGeom>
          <a:noFill/>
          <a:ln w="25400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20640" y="351586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35158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· dataset &amp; variable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959352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9593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“xx.x” · footnotes · SAP §refs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4160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20640" y="3959352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39593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resultPattern · documentRefs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402836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40283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numbers, once produced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80560" y="4604004"/>
            <a:ext cx="5486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120640" y="4402836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5257800" y="440283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OperationResult (ARD)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is a human-readable serialization of the same concepts ARS makes machine-readable.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Additional Metadata Layer Is Still Needed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shells are readable by humans — but not by machines.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needs reporting intent expressed explicitly, unambiguously, and in a standard 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77640" cy="2423160"/>
          </a:xfrm>
          <a:prstGeom prst="roundRect">
            <a:avLst>
              <a:gd name="adj" fmla="val 3396"/>
            </a:avLst>
          </a:prstGeom>
          <a:solidFill>
            <a:srgbClr val="FDF3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214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upfront investment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2560320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study metadata takes real time and effort at first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reporting requirements must be represented explicitly — no implicit conventions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needs enough detail to support automated execution, not just documentation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920240"/>
            <a:ext cx="3977640" cy="2423160"/>
          </a:xfrm>
          <a:prstGeom prst="roundRect">
            <a:avLst>
              <a:gd name="adj" fmla="val 3396"/>
            </a:avLst>
          </a:prstGeom>
          <a:solidFill>
            <a:srgbClr val="DCFC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214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0952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return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65192" y="2560320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reused across outputs, studies, and programs — the cost amortizes fast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and consistency come for free once intent is structured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scales: each new study starts from a library, not a blank page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 to structure the intent — then reuse it across every output that shares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Practice, ARS Metadata Lives as JSON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= one ReportingEvent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276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ReportingEvent  ·  RE001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214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2121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analysisSets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who is analyzed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770632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5786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2578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dataSubsets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which records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227832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358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analysisGroupings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split by what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685032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930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3493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which statistics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4142232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9502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39502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analyses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runs + results (ARD)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4599432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4074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416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displays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2029968"/>
            <a:ext cx="0" cy="2478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1280160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13716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reporting_event.json — excerpt (simplified)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1664208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"analysisSets"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"AS002"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"Safety Population"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"condition"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"dataset"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"ADSL"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"variable"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"SAFFL"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"comparator"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"methods"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"M001"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"operations"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"Mean"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"resultPattern"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"XXX.X"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"SD"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"resultPattern"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"XXX.XX"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]}]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lead with raw JSON.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six-branch picture first — then JSON excerpts read like a table of contents, not a wall of text.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HTML Walkthroughs — What to Watch For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050" dirty="0"/>
          </a:p>
        </p:txBody>
      </p:sp>
      <p:sp>
        <p:nvSpPr>
          <p:cNvPr id="7" name="Text 5">
            <a:hlinkClick r:id="rId1" tooltip="Open in browser"/>
          </p:cNvPr>
          <p:cNvSpPr/>
          <p:nvPr/>
        </p:nvSpPr>
        <p:spPr>
          <a:xfrm>
            <a:off x="640080" y="1755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Open in brows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ars_reportingevent_structure_animation.html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shell → the six branches of an ARS ReportingEvent, built step by step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14173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173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050" dirty="0"/>
          </a:p>
        </p:txBody>
      </p:sp>
      <p:sp>
        <p:nvSpPr>
          <p:cNvPr id="12" name="Text 10">
            <a:hlinkClick r:id="rId2" tooltip="Open in browser"/>
          </p:cNvPr>
          <p:cNvSpPr/>
          <p:nvPr/>
        </p:nvSpPr>
        <p:spPr>
          <a:xfrm>
            <a:off x="4892040" y="1755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Open in brows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demog_to_ard_animation.html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table cells → ARD rows, one record per computed value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animations play, watch for: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63824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1248" y="30632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metadata — IDs, titles, populations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63824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93208" y="30632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specifications — methods, groupings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7588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" y="35753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metadata — patterns, formatted values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67588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93208" y="35753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variable relationships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8795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40873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representation of TLF requirements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87952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93208" y="40873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shell → metadata → output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names are clickable when this deck sits in the project folder — or open them from the repo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Annotated Shell → ARS ReportingEvent</a:t>
            </a:r>
            <a:endParaRPr lang="en-US" sz="2000" dirty="0"/>
          </a:p>
        </p:txBody>
      </p:sp>
      <p:pic>
        <p:nvPicPr>
          <p:cNvPr id="3" name="Image 0" descr="preview_reportingevent.png">
            <a:hlinkClick r:id="rId2" tooltip="Open interactive animation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658368"/>
            <a:ext cx="7223760" cy="43982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219456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/>
        </p:spPr>
      </p:sp>
      <p:sp>
        <p:nvSpPr>
          <p:cNvPr id="5" name="Text 2">
            <a:hlinkClick r:id="rId3" tooltip="ars_reportingevent_structure_animation.html"/>
          </p:cNvPr>
          <p:cNvSpPr/>
          <p:nvPr/>
        </p:nvSpPr>
        <p:spPr>
          <a:xfrm>
            <a:off x="6309360" y="219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ars_reportingevent_structure_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open interactive version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EF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Table → ARD, Cell by Cell</a:t>
            </a:r>
            <a:endParaRPr lang="en-US" sz="2000" dirty="0"/>
          </a:p>
        </p:txBody>
      </p:sp>
      <p:pic>
        <p:nvPicPr>
          <p:cNvPr id="3" name="Image 0" descr="preview_demog_ard.png">
            <a:hlinkClick r:id="rId2" tooltip="Open interactive animation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658368"/>
            <a:ext cx="7004304" cy="43982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219456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>
            <a:hlinkClick r:id="rId3" tooltip="demog_to_ard_animation.html"/>
          </p:cNvPr>
          <p:cNvSpPr/>
          <p:nvPr/>
        </p:nvSpPr>
        <p:spPr>
          <a:xfrm>
            <a:off x="6309360" y="219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demog_to_ard_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open interactive version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of ARS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5852160" cy="420624"/>
          </a:xfrm>
          <a:prstGeom prst="roundRect">
            <a:avLst>
              <a:gd name="adj" fmla="val 1521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ReportingEvent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root: one study reporting effort, one file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9446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901952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2064" y="2157984"/>
            <a:ext cx="12847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 (who)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43100" y="1828800"/>
            <a:ext cx="139446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7964" y="1901952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DataSubset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97964" y="2157984"/>
            <a:ext cx="12847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filters (which)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139446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901952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GroupingFactor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83864" y="2157984"/>
            <a:ext cx="12847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arms, subgroups (split)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14900" y="1828800"/>
            <a:ext cx="139446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9764" y="1901952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AnalysisMethod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9764" y="2157984"/>
            <a:ext cx="12847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(how)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57860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 ·  referenced by 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52928"/>
            <a:ext cx="5852160" cy="658368"/>
          </a:xfrm>
          <a:prstGeom prst="roundRect">
            <a:avLst>
              <a:gd name="adj" fmla="val 9722"/>
            </a:avLst>
          </a:prstGeom>
          <a:solidFill>
            <a:srgbClr val="FD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5292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binds population + subset + grouping + method to one dataset &amp; variable — parameters, purpose, reason, and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(ARD)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nest here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585216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393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rendered display: file type, display sections, ordered result presentation, formatting requirements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1682496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83280" y="2542032"/>
            <a:ext cx="0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83280" y="3511296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1261872"/>
            <a:ext cx="2148840" cy="3035808"/>
          </a:xfrm>
          <a:prstGeom prst="roundRect">
            <a:avLst>
              <a:gd name="adj" fmla="val 3830"/>
            </a:avLst>
          </a:prstGeom>
          <a:solidFill>
            <a:srgbClr val="EAF3F5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42646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050024" y="13898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provenance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720840" y="2011680"/>
            <a:ext cx="1801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documentRefs link every analysis to SAP pages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WhereClauses make filters explicit &amp; testable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resultPattern separates raw from displayed value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connect spec → execution → result → display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define a reportable analysis result — machine-readably, and only once.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of 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84248" y="1700784"/>
            <a:ext cx="2743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57400" y="1325880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32588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84448" y="1700784"/>
            <a:ext cx="2743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325880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32588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84648" y="1700784"/>
            <a:ext cx="2743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325880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DCFC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32588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4848" y="1700784"/>
            <a:ext cx="27432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1325880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3258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TLFs · Dashboards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outputs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computed value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105156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72491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2724912"/>
            <a:ext cx="91440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45336" y="272491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724912"/>
            <a:ext cx="105156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9736" y="272491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stat_name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724912"/>
            <a:ext cx="68580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72491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01752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8760" y="30175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45336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3017520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9736" y="301752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3017520"/>
            <a:ext cx="685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301752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291840"/>
            <a:ext cx="105156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329184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08760" y="3291840"/>
            <a:ext cx="91440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45336" y="32918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23160" y="3291840"/>
            <a:ext cx="105156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9736" y="329184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3291840"/>
            <a:ext cx="68580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11296" y="329184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566160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" y="35661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508760" y="35661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45336" y="35661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23160" y="3566160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9736" y="35661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0" y="3566160"/>
            <a:ext cx="685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11296" y="356616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46.8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3913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links back to the analysis, method operation, and grouping IDs that produced it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structured results enable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4846320" y="26974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move between tools and partners, no RTF re-parsing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46320" y="3136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every analysis using a population or method in seconds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46320" y="35753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carries its specification lineage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46320" y="40142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ARD feeds tables, figures, dashboards, submissions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590288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45902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describes what should be computed; ARD is the standardized record of what was computed.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Adoption Is Hard — Despite the Value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BF4EF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636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44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complexity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nested, ID-referenced metadata is intimidating to author by hand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B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3410712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636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444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familiarity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196596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v1.0 is young; few teams have hands-on experience yet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BF4EF"/>
          </a:solidFill>
          <a:ln/>
        </p:spPr>
      </p:sp>
      <p:sp>
        <p:nvSpPr>
          <p:cNvPr id="15" name="Shape 11"/>
          <p:cNvSpPr/>
          <p:nvPr/>
        </p:nvSpPr>
        <p:spPr>
          <a:xfrm>
            <a:off x="6199632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5636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444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translation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196596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SAPs and shells don't convert themselves into structured metadata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16936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BF4EF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" y="30723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1546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0358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upfront effort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55701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study costs more before the reuse dividend arrives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16936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BF4EF"/>
          </a:solidFill>
          <a:ln/>
        </p:spPr>
      </p:sp>
      <p:sp>
        <p:nvSpPr>
          <p:cNvPr id="25" name="Shape 19"/>
          <p:cNvSpPr/>
          <p:nvPr/>
        </p:nvSpPr>
        <p:spPr>
          <a:xfrm>
            <a:off x="3410712" y="30723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1546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30358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Immature authoring tools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55701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widely adopted editor for building and reviewing ARS metadata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916936"/>
            <a:ext cx="2651760" cy="1389888"/>
          </a:xfrm>
          <a:prstGeom prst="roundRect">
            <a:avLst>
              <a:gd name="adj" fmla="val 5263"/>
            </a:avLst>
          </a:prstGeom>
          <a:solidFill>
            <a:srgbClr val="FBF4EF"/>
          </a:solidFill>
          <a:ln/>
        </p:spPr>
      </p:sp>
      <p:sp>
        <p:nvSpPr>
          <p:cNvPr id="30" name="Shape 23"/>
          <p:cNvSpPr/>
          <p:nvPr/>
        </p:nvSpPr>
        <p:spPr>
          <a:xfrm>
            <a:off x="6199632" y="30723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546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30358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lift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17920" y="355701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Statisticians, programmers, standards and reporting teams must align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B3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reasons to wait — they are requirements for the tooling we build next.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Gap: Annotated Shell → ARS JSON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727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554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Shell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208483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every clinical team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and quick to draft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Review-friendly for statisticians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machines can't execute 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74920" y="13716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157276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9864" y="1554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JSON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367528" y="208483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across studies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 and validation-ready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by construction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67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complex to author by hand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60520" y="2148840"/>
            <a:ext cx="822960" cy="10972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5" name="Text 11"/>
          <p:cNvSpPr/>
          <p:nvPr/>
        </p:nvSpPr>
        <p:spPr>
          <a:xfrm>
            <a:off x="4160520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160520" y="2697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4206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" y="426110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translation is time-consuming, error-prone, and does not scale.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needs tooling that bridges the two worlds — not programmers hand-writing JSON for every output.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Tooling — and the arsbridge Concept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translation tools must do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335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59105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the ARS model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7335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38728" y="159105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templates for common TLFs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7335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27648" y="159105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reuse across outputs &amp; studies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4884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" y="206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authoring — no raw JSON required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14884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538728" y="206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JSON generation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14884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27648" y="206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workflows clinical teams accept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457200" y="27432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713232" y="2944368"/>
            <a:ext cx="1600200" cy="402336"/>
          </a:xfrm>
          <a:prstGeom prst="roundRect">
            <a:avLst>
              <a:gd name="adj" fmla="val 18182"/>
            </a:avLst>
          </a:prstGeom>
          <a:solidFill>
            <a:srgbClr val="0E5A6D"/>
          </a:solidFill>
          <a:ln/>
        </p:spPr>
      </p:sp>
      <p:sp>
        <p:nvSpPr>
          <p:cNvPr id="19" name="Text 11"/>
          <p:cNvSpPr/>
          <p:nvPr/>
        </p:nvSpPr>
        <p:spPr>
          <a:xfrm>
            <a:off x="713232" y="29443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{arsbridge}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2468880" y="294436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 package concept: bridge annotated shells and ARS — bidirectionally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713232" y="34930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shell_to_ars()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annotated shell → ARM-TS JSON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645152" y="34930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ars_to_shell()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ARS metadata → reviewable shell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713232" y="3950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parse_ars()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a ReportingEvent into R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4645152" y="3950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validate_ard()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ARD results against the spec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713232" y="42793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enabling framework — it reduces the burden of hand-authoring ARS JSON; it does not remove the need for review.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ARS JSON to Generated TLF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3716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82496" y="1760220"/>
            <a:ext cx="45720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64792" y="137160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3716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{arsbridge}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90088" y="1760220"/>
            <a:ext cx="45720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72384" y="1371600"/>
            <a:ext cx="1005840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90672" y="137160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760220"/>
            <a:ext cx="45720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97096" y="137160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EA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15384" y="1371600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{siera}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5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 scripts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42432" y="1760220"/>
            <a:ext cx="45720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24728" y="137160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DCFC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43016" y="13716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{cards}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32904" y="1760220"/>
            <a:ext cx="45720" cy="0"/>
          </a:xfrm>
          <a:prstGeom prst="line">
            <a:avLst/>
          </a:prstGeom>
          <a:noFill/>
          <a:ln w="28575">
            <a:solidFill>
              <a:srgbClr val="0E5A6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137160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33488" y="137160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· Figures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642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{siera}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spec → programs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2971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ARS metadata (JSON or xlsx) and auto-generates one R program per defined output — run against ADaM to produce ARDs.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51460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2642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{cards}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data → results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0328" y="2971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CDISC-aligned ARD engine: ard_continuous(), ard_categorical() and friends produce one structured record per computed value.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879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point: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provides the standardized specification; R tools execute and render against it. When the metadata is comprehensive, a substantial share of TLF programming can be generated.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Future-State Workflow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· protocol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874520"/>
            <a:ext cx="152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75560" y="1417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128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128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intent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95800" y="1874520"/>
            <a:ext cx="152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93920" y="1417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964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authoring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964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{arsbridge}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14160" y="1874520"/>
            <a:ext cx="152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1417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490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49540" y="2331720"/>
            <a:ext cx="0" cy="6858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12280" y="3017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584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{siera} + {cards}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93920" y="3017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964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9640" y="3584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results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14160" y="3474720"/>
            <a:ext cx="152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2575560" y="3017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128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TLF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21280" y="3584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+ rendering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95800" y="3474720"/>
            <a:ext cx="152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3017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090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Reviewable, reproducible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outputs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84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TLFs · CSR · submission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77440" y="3474720"/>
            <a:ext cx="152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3499104" y="11430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499104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735824" y="11430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7735824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spec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99104" y="27432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3499104" y="2743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review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27432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2743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+ sign-off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2519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4251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where they add value: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specification, statistical review, and quality control — the repetitive translation and programming in between is automated.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14984"/>
            <a:ext cx="402336" cy="402336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14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and ARD give clinical reporting a standardized, traceable, reusable foundation.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73352"/>
            <a:ext cx="402336" cy="402336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shells remain the right starting point — they already capture reporting intent in a familiar form.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402336" cy="402336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7685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adoption challenge is translating human-readable shells into machine-readable ARS JSON.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402336" cy="402336"/>
          </a:xfrm>
          <a:prstGeom prst="ellipse">
            <a:avLst/>
          </a:prstGeom>
          <a:solidFill>
            <a:srgbClr val="0E5A6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93522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{arsbridge} can bridge that gap; {siera} and {cards} can then generate and compute TLF code from the metadata.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593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replace programmers or statisticians — it is to remove repetitive effort so teams focus on quality, interpretation, and review.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370832"/>
            <a:ext cx="7863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98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more: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cdisc.org/standards/foundational/analysis-results-standard   ·   github.com/cdisc-org/analysis-results-standard   ·   project repo: ARS_Training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Clinical Reporting with CDISC ARS &amp; ARD</dc:title>
  <dc:subject>PptxGenJS Presentation</dc:subject>
  <dc:creator>Hamid Tavakoli</dc:creator>
  <cp:lastModifiedBy>Hamid Tavakoli</cp:lastModifiedBy>
  <cp:revision>1</cp:revision>
  <dcterms:created xsi:type="dcterms:W3CDTF">2026-07-06T19:45:39Z</dcterms:created>
  <dcterms:modified xsi:type="dcterms:W3CDTF">2026-07-06T19:45:39Z</dcterms:modified>
</cp:coreProperties>
</file>